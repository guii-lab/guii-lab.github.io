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600000"/>
            <a:ext cx="104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0F234E"/>
                </a:solidFill>
              </a:rPr>
              <a:t>LEAI — Learning Experience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2700000"/>
            <a:ext cx="94000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475569"/>
                </a:solidFill>
              </a:rPr>
              <a:t>A sibling lab tool to StudyHelper.
StudyHelper helps students learn. LEAI listens to how it went.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4500000"/>
            <a:ext cx="10400000" cy="12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4800000"/>
            <a:ext cx="10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F234E"/>
                </a:solidFill>
              </a:rPr>
              <a:t>PromptDesigner   →   FeedbackCollector   →   FeedbackAnalyzer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50000"/>
            <a:ext cx="12192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GUII Lab · UC Santa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Set up a survey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1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475569"/>
                </a:solidFill>
              </a:rPr>
              <a:t>Pick a template.   Write the bot's voice.   Share a link.</a:t>
            </a:r>
          </a:p>
        </p:txBody>
      </p:sp>
      <p:pic>
        <p:nvPicPr>
          <p:cNvPr id="5" name="Picture 4" descr="test-f1-f2-survey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046429"/>
            <a:ext cx="5400000" cy="3507142"/>
          </a:xfrm>
          <a:prstGeom prst="rect">
            <a:avLst/>
          </a:prstGeom>
        </p:spPr>
      </p:pic>
      <p:pic>
        <p:nvPicPr>
          <p:cNvPr id="6" name="Picture 5" descr="test-f11-edit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00" y="2046429"/>
            <a:ext cx="5400000" cy="3507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6000000"/>
            <a:ext cx="11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2410C"/>
                </a:solidFill>
              </a:rPr>
              <a:t>Three modes:  Free-Form  ·  In-Group  ·  Structured Reflection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What students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50000"/>
            <a:ext cx="110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Conversational  ·  Anonymous  ·  Group-aware  ·  Voice-input</a:t>
            </a:r>
          </a:p>
        </p:txBody>
      </p:sp>
      <p:pic>
        <p:nvPicPr>
          <p:cNvPr id="5" name="Picture 4" descr="feedback-consent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86" y="1800000"/>
            <a:ext cx="4911627" cy="3300000"/>
          </a:xfrm>
          <a:prstGeom prst="rect">
            <a:avLst/>
          </a:prstGeom>
        </p:spPr>
      </p:pic>
      <p:pic>
        <p:nvPicPr>
          <p:cNvPr id="6" name="Picture 5" descr="chat-new-s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00" y="2085714"/>
            <a:ext cx="5400000" cy="2728571"/>
          </a:xfrm>
          <a:prstGeom prst="rect">
            <a:avLst/>
          </a:prstGeom>
        </p:spPr>
      </p:pic>
      <p:pic>
        <p:nvPicPr>
          <p:cNvPr id="7" name="Picture 6" descr="feedback-header-anonym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558" y="5300000"/>
            <a:ext cx="1934883" cy="1300000"/>
          </a:xfrm>
          <a:prstGeom prst="rect">
            <a:avLst/>
          </a:prstGeom>
        </p:spPr>
      </p:pic>
      <p:pic>
        <p:nvPicPr>
          <p:cNvPr id="8" name="Picture 7" descr="group-team-sel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56" y="5300000"/>
            <a:ext cx="1848888" cy="1300000"/>
          </a:xfrm>
          <a:prstGeom prst="rect">
            <a:avLst/>
          </a:prstGeom>
        </p:spPr>
      </p:pic>
      <p:pic>
        <p:nvPicPr>
          <p:cNvPr id="9" name="Picture 8" descr="mic-recor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556" y="5300000"/>
            <a:ext cx="1848888" cy="1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Structured Reflection — when every section must be answered</a:t>
            </a:r>
          </a:p>
        </p:txBody>
      </p:sp>
      <p:pic>
        <p:nvPicPr>
          <p:cNvPr id="4" name="Picture 3" descr="pd-form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300000"/>
            <a:ext cx="5120000" cy="3600000"/>
          </a:xfrm>
          <a:prstGeom prst="rect">
            <a:avLst/>
          </a:prstGeom>
        </p:spPr>
      </p:pic>
      <p:pic>
        <p:nvPicPr>
          <p:cNvPr id="5" name="Picture 4" descr="feedback-form-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000" y="1300000"/>
            <a:ext cx="5120000" cy="36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5100000"/>
            <a:ext cx="11000000" cy="15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5250000"/>
            <a:ext cx="106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</a:rPr>
              <a:t>What:  </a:t>
            </a:r>
            <a:r>
              <a:rPr sz="1600">
                <a:solidFill>
                  <a:srgbClr val="0F172A"/>
                </a:solidFill>
              </a:rPr>
              <a:t>AI walks every section in order.</a:t>
            </a:r>
          </a:p>
          <a:p>
            <a:pPr algn="l"/>
            <a:r>
              <a:rPr sz="1600" b="1">
                <a:solidFill>
                  <a:srgbClr val="C2410C"/>
                </a:solidFill>
              </a:rPr>
              <a:t>Why:  </a:t>
            </a:r>
            <a:r>
              <a:rPr sz="1600">
                <a:solidFill>
                  <a:srgbClr val="0F172A"/>
                </a:solidFill>
              </a:rPr>
              <a:t>When you need every section answered — for example, a graded team reflection.</a:t>
            </a:r>
          </a:p>
          <a:p>
            <a:pPr algn="l"/>
            <a:r>
              <a:rPr sz="1600" b="1">
                <a:solidFill>
                  <a:srgbClr val="C2410C"/>
                </a:solidFill>
              </a:rPr>
              <a:t>How:  </a:t>
            </a:r>
            <a:r>
              <a:rPr sz="1600">
                <a:solidFill>
                  <a:srgbClr val="0F172A"/>
                </a:solidFill>
              </a:rPr>
              <a:t>Instructor picks a schema in Prompt Designer. Student sees a normal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From conversations to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1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Quicktake  ·  Keyness  ·  Raw responses</a:t>
            </a:r>
          </a:p>
        </p:txBody>
      </p:sp>
      <p:pic>
        <p:nvPicPr>
          <p:cNvPr id="5" name="Picture 4" descr="analyzer-quick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742857"/>
            <a:ext cx="5400000" cy="2914285"/>
          </a:xfrm>
          <a:prstGeom prst="rect">
            <a:avLst/>
          </a:prstGeom>
        </p:spPr>
      </p:pic>
      <p:pic>
        <p:nvPicPr>
          <p:cNvPr id="6" name="Picture 5" descr="analyzer-key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00" y="1742857"/>
            <a:ext cx="5400000" cy="2914285"/>
          </a:xfrm>
          <a:prstGeom prst="rect">
            <a:avLst/>
          </a:prstGeom>
        </p:spPr>
      </p:pic>
      <p:pic>
        <p:nvPicPr>
          <p:cNvPr id="7" name="Picture 6" descr="analyzer-ngram-clickthrou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176" y="4750000"/>
            <a:ext cx="1667647" cy="9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00" y="5800000"/>
            <a:ext cx="11000000" cy="8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5950000"/>
            <a:ext cx="10600000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F172A"/>
                </a:solidFill>
              </a:rPr>
              <a:t>Free-form chat is rich but messy. We did not want instructors to trust one black-box summary. Three views, so you can triangulate.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620000"/>
            <a:ext cx="11792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More at LEAI/instructor-guide.html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